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71" d="100"/>
          <a:sy n="71" d="100"/>
        </p:scale>
        <p:origin x="76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8550B-3FFF-48D5-AC55-04195CA6A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BBAB7-2C0B-4EE1-B529-1F0156E9D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D9329-85BF-4E9C-B179-FB9341A4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FB76-40C1-4A89-99FE-6BE83AC814BF}" type="datetimeFigureOut">
              <a:rPr lang="en-ID" smtClean="0"/>
              <a:t>05/09/2023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C1CB7-FC0E-4ED1-ABF2-1006BA1F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96CFC-62FE-44AB-8634-7ED4CEC1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E786-3C81-4878-91E9-05B6850637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4302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7E1A-93B6-4FA3-9B4E-A4A23FAF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981CC-04EE-4CDE-BCC3-0858C4900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8DFE8-8783-4D09-9380-55B97CAC9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FB76-40C1-4A89-99FE-6BE83AC814BF}" type="datetimeFigureOut">
              <a:rPr lang="en-ID" smtClean="0"/>
              <a:t>05/09/2023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10819-E9AE-41BA-9087-609B5BA9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B1C8D-1E7F-40BB-ACAA-E0AA6985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E786-3C81-4878-91E9-05B6850637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373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FDC6-0B0E-4DA3-A85E-2ABA37CB2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783E3-6244-4F9D-B200-72232BF8F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FD937-16B7-42F4-B06F-9773C566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FB76-40C1-4A89-99FE-6BE83AC814BF}" type="datetimeFigureOut">
              <a:rPr lang="en-ID" smtClean="0"/>
              <a:t>05/09/2023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33202-AB03-48BC-ADA2-E1F1F9C65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A5614-0C90-4EEF-8C91-88A5DAD07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E786-3C81-4878-91E9-05B6850637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9194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EF51-B8BC-4E0A-A1AD-5FD5AAB0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C8D83-D92B-4B24-BB7C-706688E8C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777CF-78A6-4522-994F-E93C4D6AA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FCE49-C527-48A6-AE8C-D92E7801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FB76-40C1-4A89-99FE-6BE83AC814BF}" type="datetimeFigureOut">
              <a:rPr lang="en-ID" smtClean="0"/>
              <a:t>05/09/2023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2247A-AA81-4531-89A5-2B40B021F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5931C-BA21-4DA3-B171-FADBC299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E786-3C81-4878-91E9-05B6850637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0536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80A5-5A16-4AE9-871B-EBC8FAB9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2020C-5745-423E-9CF8-C6D194724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964A5-4C5B-436A-AD1A-82583170A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53299-7B61-4E62-B915-7A00C1CA9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BC672-D35B-4B57-A237-8BA83779D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57BC32-33D3-464F-B119-DC07CFD8D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FB76-40C1-4A89-99FE-6BE83AC814BF}" type="datetimeFigureOut">
              <a:rPr lang="en-ID" smtClean="0"/>
              <a:t>05/09/2023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1ADC8C-0E06-4070-988D-7CA56C46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88288B-2581-4BFB-9BC9-778D08E1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E786-3C81-4878-91E9-05B6850637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5489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5162-C1D4-418C-8492-EEA2FD91E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9BFEC-EE6F-4E01-B361-3D26DCCE6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FB76-40C1-4A89-99FE-6BE83AC814BF}" type="datetimeFigureOut">
              <a:rPr lang="en-ID" smtClean="0"/>
              <a:t>05/09/2023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53D05-FDF3-4FAD-B294-6B810ED2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C4692-E2C7-4F54-BB78-AD3755501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E786-3C81-4878-91E9-05B6850637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157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E635BC-2C5B-46EB-B19B-E7D90266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FB76-40C1-4A89-99FE-6BE83AC814BF}" type="datetimeFigureOut">
              <a:rPr lang="en-ID" smtClean="0"/>
              <a:t>05/09/2023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E80F6-B886-4BA7-99B5-3EA67F5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52AFF-0CD4-44F9-B736-4DBA1BE03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E786-3C81-4878-91E9-05B6850637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2770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3B9B-2387-47B2-B7EE-4BB0E74E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B9A25-292D-4950-882B-F7DC4864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2B9D9-49DD-42AF-8490-351E3E000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9C9E4-F4C6-4129-AFE5-35F0F821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FB76-40C1-4A89-99FE-6BE83AC814BF}" type="datetimeFigureOut">
              <a:rPr lang="en-ID" smtClean="0"/>
              <a:t>05/09/2023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967C4-5AC1-4D49-A95A-E0E9BBDDE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A753A-13CB-4B68-92AC-713E11F4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E786-3C81-4878-91E9-05B6850637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062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993AC-E0A4-46F5-91F4-9EA6EFEB4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29DC75-6306-4038-B153-3C7042A06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339E9-1396-4C41-8FAD-F1246BB4E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8B274-E65D-4429-B430-C867BFAF8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FB76-40C1-4A89-99FE-6BE83AC814BF}" type="datetimeFigureOut">
              <a:rPr lang="en-ID" smtClean="0"/>
              <a:t>05/09/2023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3B9C2-2725-4737-A1FC-4C11A22D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4BE52-943C-42AB-87FA-2082A956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E786-3C81-4878-91E9-05B6850637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889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19FA-79CD-4AF4-A1B2-A4AAD5998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12A34-FC67-48BB-8CFF-FA0E61C2E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667B5-B5D5-4937-894D-A055E8D83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FB76-40C1-4A89-99FE-6BE83AC814BF}" type="datetimeFigureOut">
              <a:rPr lang="en-ID" smtClean="0"/>
              <a:t>05/09/2023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65D85-7374-4102-A210-4939634B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7BFE2-5AB7-475C-8C6E-7FC05357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E786-3C81-4878-91E9-05B6850637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34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57BE27-DBE5-4EAC-BEAF-5CD200922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171FA-8ABA-496A-A1A0-DAA234E82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6F388-D1AE-4542-B030-000BC930E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FB76-40C1-4A89-99FE-6BE83AC814BF}" type="datetimeFigureOut">
              <a:rPr lang="en-ID" smtClean="0"/>
              <a:t>05/09/2023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9B198-1D67-42F5-B520-127271D77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D5CBD-DB6D-48EB-8C77-313555A1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E786-3C81-4878-91E9-05B6850637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3196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0447D7-FAB3-459D-AD29-749F2D91B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42E89-DF1D-41D3-A52C-E5FB7DB52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B7AD4-4904-41D5-B665-87AE0ED54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2FB76-40C1-4A89-99FE-6BE83AC814BF}" type="datetimeFigureOut">
              <a:rPr lang="en-ID" smtClean="0"/>
              <a:t>05/09/2023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B7BEB-833B-4196-A43F-B0BB99586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93304-E61D-4D72-8FCF-90244E414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4E786-3C81-4878-91E9-05B6850637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261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CFCF-64EC-4BBD-A77B-EFADDC931E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Konsep</a:t>
            </a:r>
            <a:r>
              <a:rPr lang="en-GB" dirty="0"/>
              <a:t> </a:t>
            </a:r>
            <a:r>
              <a:rPr lang="en-GB" dirty="0" err="1"/>
              <a:t>Manajemen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FA824-62EC-4398-9C83-59DD7D5767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108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B276-5657-49EC-BFFD-1CDDC323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Konsep</a:t>
            </a:r>
            <a:r>
              <a:rPr lang="en-GB" dirty="0"/>
              <a:t> </a:t>
            </a:r>
            <a:r>
              <a:rPr lang="en-GB" dirty="0" err="1"/>
              <a:t>Manajemen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FC23B-1133-4C82-918F-9B782A077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>
                <a:latin typeface="DM Sans"/>
              </a:rPr>
              <a:t>Mengapa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manajemen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penting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untuk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dipelajari</a:t>
            </a:r>
            <a:r>
              <a:rPr lang="en-ID" dirty="0">
                <a:latin typeface="DM Sans"/>
              </a:rPr>
              <a:t>?</a:t>
            </a:r>
          </a:p>
          <a:p>
            <a:pPr marL="268288" indent="0">
              <a:buNone/>
            </a:pPr>
            <a:r>
              <a:rPr lang="en-ID" dirty="0">
                <a:latin typeface="DM Sans"/>
              </a:rPr>
              <a:t>Karena </a:t>
            </a:r>
            <a:r>
              <a:rPr lang="en-ID" dirty="0" err="1">
                <a:latin typeface="DM Sans"/>
              </a:rPr>
              <a:t>ilmu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manajemen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perlu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menyentuh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berbagai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macam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aspek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organisasi</a:t>
            </a:r>
            <a:r>
              <a:rPr lang="en-ID" dirty="0">
                <a:latin typeface="DM Sans"/>
              </a:rPr>
              <a:t> agar </a:t>
            </a:r>
            <a:r>
              <a:rPr lang="en-ID" dirty="0" err="1">
                <a:latin typeface="DM Sans"/>
              </a:rPr>
              <a:t>organisasi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tersebut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dapat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mencapai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tujuan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organisasi</a:t>
            </a:r>
            <a:r>
              <a:rPr lang="en-ID" dirty="0">
                <a:latin typeface="DM Sans"/>
              </a:rPr>
              <a:t> dan </a:t>
            </a:r>
            <a:r>
              <a:rPr lang="en-ID" dirty="0" err="1">
                <a:latin typeface="DM Sans"/>
              </a:rPr>
              <a:t>lebih</a:t>
            </a:r>
            <a:r>
              <a:rPr lang="en-ID" dirty="0">
                <a:latin typeface="DM Sans"/>
              </a:rPr>
              <a:t> </a:t>
            </a:r>
            <a:r>
              <a:rPr lang="en-ID" dirty="0" err="1">
                <a:latin typeface="DM Sans"/>
              </a:rPr>
              <a:t>efisien</a:t>
            </a:r>
            <a:r>
              <a:rPr lang="en-ID" dirty="0">
                <a:latin typeface="DM Sans"/>
              </a:rPr>
              <a:t>.</a:t>
            </a:r>
          </a:p>
          <a:p>
            <a:r>
              <a:rPr lang="en-ID" dirty="0" err="1">
                <a:latin typeface="DM Sans"/>
              </a:rPr>
              <a:t>K</a:t>
            </a:r>
            <a:r>
              <a:rPr lang="en-ID" b="0" i="0" dirty="0" err="1">
                <a:effectLst/>
                <a:latin typeface="DM Sans"/>
              </a:rPr>
              <a:t>onsep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manajemen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adalah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bentuk</a:t>
            </a:r>
            <a:r>
              <a:rPr lang="en-ID" b="0" i="0" dirty="0">
                <a:effectLst/>
                <a:latin typeface="DM Sans"/>
              </a:rPr>
              <a:t> tata </a:t>
            </a:r>
            <a:r>
              <a:rPr lang="en-ID" b="0" i="0" dirty="0" err="1">
                <a:effectLst/>
                <a:latin typeface="DM Sans"/>
              </a:rPr>
              <a:t>kelola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sebuah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organisasi</a:t>
            </a:r>
            <a:r>
              <a:rPr lang="en-ID" b="0" i="0" dirty="0">
                <a:effectLst/>
                <a:latin typeface="DM Sans"/>
              </a:rPr>
              <a:t> / </a:t>
            </a:r>
            <a:r>
              <a:rPr lang="en-ID" b="0" i="0" dirty="0" err="1">
                <a:effectLst/>
                <a:latin typeface="DM Sans"/>
              </a:rPr>
              <a:t>perusahaan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sehingga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segala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jenis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aktivitasnya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bisa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terkontrol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dengan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cukup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baik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r>
              <a:rPr lang="en-ID" b="0" i="0" dirty="0" err="1">
                <a:effectLst/>
                <a:latin typeface="DM Sans"/>
              </a:rPr>
              <a:t>Dalam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hal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ini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seorang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manajer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dituntut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untuk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bisa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menguasai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konsep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perencanaan</a:t>
            </a:r>
            <a:r>
              <a:rPr lang="en-ID" b="0" i="0" dirty="0">
                <a:effectLst/>
                <a:latin typeface="DM Sans"/>
              </a:rPr>
              <a:t> yang </a:t>
            </a:r>
            <a:r>
              <a:rPr lang="en-ID" b="0" i="0" dirty="0" err="1">
                <a:effectLst/>
                <a:latin typeface="DM Sans"/>
              </a:rPr>
              <a:t>baik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90412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EBB5-EEAE-48E7-9111-6C3C4092B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4769"/>
          </a:xfrm>
        </p:spPr>
        <p:txBody>
          <a:bodyPr/>
          <a:lstStyle/>
          <a:p>
            <a:r>
              <a:rPr lang="en-GB" dirty="0" err="1"/>
              <a:t>Konsep</a:t>
            </a:r>
            <a:r>
              <a:rPr lang="en-GB" dirty="0"/>
              <a:t> </a:t>
            </a:r>
            <a:r>
              <a:rPr lang="en-GB" dirty="0" err="1"/>
              <a:t>Manajemen</a:t>
            </a:r>
            <a:r>
              <a:rPr lang="en-GB" dirty="0"/>
              <a:t> (2)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6CF50-4E3B-42FC-9E3E-9CA2D1D06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121275"/>
          </a:xfrm>
        </p:spPr>
        <p:txBody>
          <a:bodyPr>
            <a:normAutofit lnSpcReduction="10000"/>
          </a:bodyPr>
          <a:lstStyle/>
          <a:p>
            <a:pPr marL="268288" lvl="1" indent="-268288"/>
            <a:r>
              <a:rPr lang="en-ID" sz="2300" b="1" i="0" dirty="0">
                <a:effectLst/>
                <a:latin typeface="Poppins" panose="020B0502040204020203" pitchFamily="2" charset="0"/>
              </a:rPr>
              <a:t>1. </a:t>
            </a:r>
            <a:r>
              <a:rPr lang="en-ID" sz="2300" b="1" i="0" dirty="0" err="1">
                <a:effectLst/>
                <a:latin typeface="Poppins" panose="020B0502040204020203" pitchFamily="2" charset="0"/>
              </a:rPr>
              <a:t>Sebagai</a:t>
            </a:r>
            <a:r>
              <a:rPr lang="en-ID" sz="2300" b="1" i="0" dirty="0">
                <a:effectLst/>
                <a:latin typeface="Poppins" panose="020B0502040204020203" pitchFamily="2" charset="0"/>
              </a:rPr>
              <a:t> </a:t>
            </a:r>
            <a:r>
              <a:rPr lang="en-ID" sz="2300" b="1" i="0" dirty="0" err="1">
                <a:effectLst/>
                <a:latin typeface="Poppins" panose="020B0502040204020203" pitchFamily="2" charset="0"/>
              </a:rPr>
              <a:t>Seni</a:t>
            </a:r>
            <a:endParaRPr lang="en-ID" sz="2300" b="1" i="0" dirty="0">
              <a:effectLst/>
              <a:latin typeface="Poppins" panose="020B0502040204020203" pitchFamily="2" charset="0"/>
            </a:endParaRPr>
          </a:p>
          <a:p>
            <a:pPr marL="538163" lvl="1" indent="0" defTabSz="538163">
              <a:buNone/>
            </a:pPr>
            <a:r>
              <a:rPr lang="en-ID" sz="2300" b="0" i="0" dirty="0" err="1">
                <a:effectLst/>
                <a:latin typeface="DM Sans"/>
              </a:rPr>
              <a:t>Konsep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ini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lebih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tertuju</a:t>
            </a:r>
            <a:r>
              <a:rPr lang="en-ID" sz="2300" b="0" i="0" dirty="0">
                <a:effectLst/>
                <a:latin typeface="DM Sans"/>
              </a:rPr>
              <a:t> pada </a:t>
            </a:r>
            <a:r>
              <a:rPr lang="en-ID" sz="2300" b="0" i="0" dirty="0" err="1">
                <a:effectLst/>
                <a:latin typeface="DM Sans"/>
              </a:rPr>
              <a:t>bagaimana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perencanaan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sebagai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sebuah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seni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dalam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menyelesaikan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pekerjaan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dengan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jalan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mempekerjakan</a:t>
            </a:r>
            <a:r>
              <a:rPr lang="en-ID" sz="2300" b="0" i="0" dirty="0">
                <a:effectLst/>
                <a:latin typeface="DM Sans"/>
              </a:rPr>
              <a:t> orang lain.</a:t>
            </a:r>
          </a:p>
          <a:p>
            <a:pPr marL="901700" lvl="1" indent="0">
              <a:buNone/>
            </a:pPr>
            <a:endParaRPr lang="en-ID" sz="1300" b="0" i="0" dirty="0">
              <a:effectLst/>
              <a:latin typeface="DM Sans"/>
            </a:endParaRPr>
          </a:p>
          <a:p>
            <a:pPr marL="228600" lvl="1"/>
            <a:r>
              <a:rPr lang="en-ID" sz="2300" b="1" i="0" dirty="0">
                <a:effectLst/>
                <a:latin typeface="Poppins" panose="020B0502040204020203" pitchFamily="2" charset="0"/>
              </a:rPr>
              <a:t>2. </a:t>
            </a:r>
            <a:r>
              <a:rPr lang="en-ID" sz="2300" b="1" i="0" dirty="0" err="1">
                <a:effectLst/>
                <a:latin typeface="Poppins" panose="020B0502040204020203" pitchFamily="2" charset="0"/>
              </a:rPr>
              <a:t>Sebagai</a:t>
            </a:r>
            <a:r>
              <a:rPr lang="en-ID" sz="2300" b="1" i="0" dirty="0">
                <a:effectLst/>
                <a:latin typeface="Poppins" panose="020B0502040204020203" pitchFamily="2" charset="0"/>
              </a:rPr>
              <a:t> </a:t>
            </a:r>
            <a:r>
              <a:rPr lang="en-ID" sz="2300" b="1" i="0" dirty="0" err="1">
                <a:effectLst/>
                <a:latin typeface="Poppins" panose="020B0502040204020203" pitchFamily="2" charset="0"/>
              </a:rPr>
              <a:t>Ilmu</a:t>
            </a:r>
            <a:r>
              <a:rPr lang="en-ID" sz="2300" b="1" i="0" dirty="0">
                <a:effectLst/>
                <a:latin typeface="Poppins" panose="020B0502040204020203" pitchFamily="2" charset="0"/>
              </a:rPr>
              <a:t> </a:t>
            </a:r>
            <a:r>
              <a:rPr lang="en-ID" sz="2300" b="1" i="0" dirty="0" err="1">
                <a:effectLst/>
                <a:latin typeface="Poppins" panose="020B0502040204020203" pitchFamily="2" charset="0"/>
              </a:rPr>
              <a:t>Pengetahuan</a:t>
            </a:r>
            <a:endParaRPr lang="en-ID" sz="2300" b="1" i="0" dirty="0">
              <a:effectLst/>
              <a:latin typeface="Poppins" panose="020B0502040204020203" pitchFamily="2" charset="0"/>
            </a:endParaRPr>
          </a:p>
          <a:p>
            <a:pPr marL="538163" lvl="1" indent="0">
              <a:buNone/>
            </a:pPr>
            <a:r>
              <a:rPr lang="en-ID" sz="2300" b="0" i="0" dirty="0" err="1">
                <a:effectLst/>
                <a:latin typeface="DM Sans"/>
              </a:rPr>
              <a:t>Perencanaan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dalam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konsepnya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berperan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sebagai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ilmu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pengetahuan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untuk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mengetahui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bagaimana</a:t>
            </a:r>
            <a:r>
              <a:rPr lang="en-ID" sz="2300" b="0" i="0" dirty="0">
                <a:effectLst/>
                <a:latin typeface="DM Sans"/>
              </a:rPr>
              <a:t> dan </a:t>
            </a:r>
            <a:r>
              <a:rPr lang="en-ID" sz="2300" b="0" i="0" dirty="0" err="1">
                <a:effectLst/>
                <a:latin typeface="DM Sans"/>
              </a:rPr>
              <a:t>mengapa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manusia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bekerjasama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untuk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menghasilkan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sesuatu</a:t>
            </a:r>
            <a:r>
              <a:rPr lang="en-ID" sz="2300" b="0" i="0" dirty="0">
                <a:effectLst/>
                <a:latin typeface="DM Sans"/>
              </a:rPr>
              <a:t> yang </a:t>
            </a:r>
            <a:r>
              <a:rPr lang="en-ID" sz="2300" b="0" i="0" dirty="0" err="1">
                <a:effectLst/>
                <a:latin typeface="DM Sans"/>
              </a:rPr>
              <a:t>bermanfaat</a:t>
            </a:r>
            <a:r>
              <a:rPr lang="en-ID" sz="2300" b="0" i="0" dirty="0">
                <a:effectLst/>
                <a:latin typeface="DM Sans"/>
              </a:rPr>
              <a:t>.</a:t>
            </a:r>
          </a:p>
          <a:p>
            <a:pPr marL="901700" lvl="1" indent="0">
              <a:buNone/>
            </a:pPr>
            <a:endParaRPr lang="en-ID" sz="1300" b="0" i="0" dirty="0">
              <a:effectLst/>
              <a:latin typeface="DM Sans"/>
            </a:endParaRPr>
          </a:p>
          <a:p>
            <a:pPr marL="228600" lvl="1"/>
            <a:r>
              <a:rPr lang="en-ID" sz="2300" b="1" i="0" dirty="0">
                <a:effectLst/>
                <a:latin typeface="Poppins" panose="020B0502040204020203" pitchFamily="2" charset="0"/>
              </a:rPr>
              <a:t>3. </a:t>
            </a:r>
            <a:r>
              <a:rPr lang="en-ID" sz="2300" b="1" i="0" dirty="0" err="1">
                <a:effectLst/>
                <a:latin typeface="Poppins" panose="020B0502040204020203" pitchFamily="2" charset="0"/>
              </a:rPr>
              <a:t>Sebagai</a:t>
            </a:r>
            <a:r>
              <a:rPr lang="en-ID" sz="2300" b="1" i="0" dirty="0">
                <a:effectLst/>
                <a:latin typeface="Poppins" panose="020B0502040204020203" pitchFamily="2" charset="0"/>
              </a:rPr>
              <a:t> </a:t>
            </a:r>
            <a:r>
              <a:rPr lang="en-ID" sz="2300" b="1" i="0" dirty="0" err="1">
                <a:effectLst/>
                <a:latin typeface="Poppins" panose="020B0502040204020203" pitchFamily="2" charset="0"/>
              </a:rPr>
              <a:t>Suatu</a:t>
            </a:r>
            <a:r>
              <a:rPr lang="en-ID" sz="2300" b="1" i="0" dirty="0">
                <a:effectLst/>
                <a:latin typeface="Poppins" panose="020B0502040204020203" pitchFamily="2" charset="0"/>
              </a:rPr>
              <a:t> Proses </a:t>
            </a:r>
          </a:p>
          <a:p>
            <a:pPr marL="538163" lvl="1" indent="0">
              <a:buNone/>
            </a:pPr>
            <a:r>
              <a:rPr lang="en-ID" sz="2300" b="0" i="0" dirty="0" err="1">
                <a:effectLst/>
                <a:latin typeface="DM Sans"/>
              </a:rPr>
              <a:t>Konsep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manajemen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ini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lebih</a:t>
            </a:r>
            <a:r>
              <a:rPr lang="en-ID" sz="2300" b="0" i="0" dirty="0">
                <a:effectLst/>
                <a:latin typeface="DM Sans"/>
              </a:rPr>
              <a:t> pada proses </a:t>
            </a:r>
            <a:r>
              <a:rPr lang="en-ID" sz="2300" b="0" i="0" dirty="0" err="1">
                <a:effectLst/>
                <a:latin typeface="DM Sans"/>
              </a:rPr>
              <a:t>perencanaan</a:t>
            </a:r>
            <a:r>
              <a:rPr lang="en-ID" sz="2300" b="0" i="0" dirty="0">
                <a:effectLst/>
                <a:latin typeface="DM Sans"/>
              </a:rPr>
              <a:t>, </a:t>
            </a:r>
            <a:r>
              <a:rPr lang="en-ID" sz="2300" b="0" i="0" dirty="0" err="1">
                <a:effectLst/>
                <a:latin typeface="DM Sans"/>
              </a:rPr>
              <a:t>pengorganisasian</a:t>
            </a:r>
            <a:r>
              <a:rPr lang="en-ID" sz="2300" b="0" i="0" dirty="0">
                <a:effectLst/>
                <a:latin typeface="DM Sans"/>
              </a:rPr>
              <a:t>, dan </a:t>
            </a:r>
            <a:r>
              <a:rPr lang="en-ID" sz="2300" b="0" i="0" dirty="0" err="1">
                <a:effectLst/>
                <a:latin typeface="DM Sans"/>
              </a:rPr>
              <a:t>pengawasan</a:t>
            </a:r>
            <a:r>
              <a:rPr lang="en-ID" sz="2300" b="0" i="0" dirty="0">
                <a:effectLst/>
                <a:latin typeface="DM Sans"/>
              </a:rPr>
              <a:t> agar </a:t>
            </a:r>
            <a:r>
              <a:rPr lang="en-ID" sz="2300" b="0" i="0" dirty="0" err="1">
                <a:effectLst/>
                <a:latin typeface="DM Sans"/>
              </a:rPr>
              <a:t>bisa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mencapai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suatu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tujuan</a:t>
            </a:r>
            <a:r>
              <a:rPr lang="en-ID" sz="2300" b="0" i="0" dirty="0">
                <a:effectLst/>
                <a:latin typeface="DM Sans"/>
              </a:rPr>
              <a:t>. </a:t>
            </a:r>
          </a:p>
          <a:p>
            <a:pPr marL="901700" lvl="1" indent="0">
              <a:buNone/>
            </a:pPr>
            <a:endParaRPr lang="en-ID" sz="1200" b="0" i="0" dirty="0">
              <a:effectLst/>
              <a:latin typeface="DM Sans"/>
            </a:endParaRPr>
          </a:p>
          <a:p>
            <a:pPr marL="228600" lvl="1"/>
            <a:r>
              <a:rPr lang="en-ID" sz="2300" b="1" i="0" dirty="0">
                <a:effectLst/>
                <a:latin typeface="Poppins" panose="020B0502040204020203" pitchFamily="2" charset="0"/>
              </a:rPr>
              <a:t>4. </a:t>
            </a:r>
            <a:r>
              <a:rPr lang="en-ID" sz="2300" b="1" i="0" dirty="0" err="1">
                <a:effectLst/>
                <a:latin typeface="Poppins" panose="020B0502040204020203" pitchFamily="2" charset="0"/>
              </a:rPr>
              <a:t>Sebagai</a:t>
            </a:r>
            <a:r>
              <a:rPr lang="en-ID" sz="2300" b="1" i="0" dirty="0">
                <a:effectLst/>
                <a:latin typeface="Poppins" panose="020B0502040204020203" pitchFamily="2" charset="0"/>
              </a:rPr>
              <a:t> </a:t>
            </a:r>
            <a:r>
              <a:rPr lang="en-ID" sz="2300" b="1" i="0" dirty="0" err="1">
                <a:effectLst/>
                <a:latin typeface="Poppins" panose="020B0502040204020203" pitchFamily="2" charset="0"/>
              </a:rPr>
              <a:t>Suatu</a:t>
            </a:r>
            <a:r>
              <a:rPr lang="en-ID" sz="2300" b="1" i="0" dirty="0">
                <a:effectLst/>
                <a:latin typeface="Poppins" panose="020B0502040204020203" pitchFamily="2" charset="0"/>
              </a:rPr>
              <a:t> </a:t>
            </a:r>
            <a:r>
              <a:rPr lang="en-ID" sz="2300" b="1" i="0" dirty="0" err="1">
                <a:effectLst/>
                <a:latin typeface="Poppins" panose="020B0502040204020203" pitchFamily="2" charset="0"/>
              </a:rPr>
              <a:t>Profesi</a:t>
            </a:r>
            <a:r>
              <a:rPr lang="en-ID" sz="2300" b="1" i="0" dirty="0">
                <a:effectLst/>
                <a:latin typeface="Poppins" panose="020B0502040204020203" pitchFamily="2" charset="0"/>
              </a:rPr>
              <a:t> </a:t>
            </a:r>
          </a:p>
          <a:p>
            <a:pPr marL="538163" lvl="1" indent="0" defTabSz="901700">
              <a:buNone/>
            </a:pPr>
            <a:r>
              <a:rPr lang="en-ID" sz="2300" b="0" i="0" dirty="0">
                <a:effectLst/>
                <a:latin typeface="DM Sans"/>
              </a:rPr>
              <a:t>Hal </a:t>
            </a:r>
            <a:r>
              <a:rPr lang="en-ID" sz="2300" b="0" i="0" dirty="0" err="1">
                <a:effectLst/>
                <a:latin typeface="DM Sans"/>
              </a:rPr>
              <a:t>ini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merujuk</a:t>
            </a:r>
            <a:r>
              <a:rPr lang="en-ID" sz="2300" b="0" i="0" dirty="0">
                <a:effectLst/>
                <a:latin typeface="DM Sans"/>
              </a:rPr>
              <a:t> pada </a:t>
            </a:r>
            <a:r>
              <a:rPr lang="en-ID" sz="2300" b="0" i="0" dirty="0" err="1">
                <a:effectLst/>
                <a:latin typeface="DM Sans"/>
              </a:rPr>
              <a:t>profesi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manajer</a:t>
            </a:r>
            <a:r>
              <a:rPr lang="en-ID" sz="2300" b="0" i="0" dirty="0">
                <a:effectLst/>
                <a:latin typeface="DM Sans"/>
              </a:rPr>
              <a:t> yang </a:t>
            </a:r>
            <a:r>
              <a:rPr lang="en-ID" sz="2300" b="0" i="0" dirty="0" err="1">
                <a:effectLst/>
                <a:latin typeface="DM Sans"/>
              </a:rPr>
              <a:t>bekerja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secara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profesional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untuk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perusahaan</a:t>
            </a:r>
            <a:r>
              <a:rPr lang="en-ID" sz="2300" b="0" i="0" dirty="0">
                <a:effectLst/>
                <a:latin typeface="DM Sans"/>
              </a:rPr>
              <a:t> dan </a:t>
            </a:r>
            <a:r>
              <a:rPr lang="en-ID" sz="2300" b="0" i="0" dirty="0" err="1">
                <a:effectLst/>
                <a:latin typeface="DM Sans"/>
              </a:rPr>
              <a:t>mendapatkan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gaji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sesuai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dengan</a:t>
            </a:r>
            <a:r>
              <a:rPr lang="en-ID" sz="2300" b="0" i="0" dirty="0">
                <a:effectLst/>
                <a:latin typeface="DM Sans"/>
              </a:rPr>
              <a:t> </a:t>
            </a:r>
            <a:r>
              <a:rPr lang="en-ID" sz="2300" b="0" i="0" dirty="0" err="1">
                <a:effectLst/>
                <a:latin typeface="DM Sans"/>
              </a:rPr>
              <a:t>keahlian</a:t>
            </a:r>
            <a:r>
              <a:rPr lang="en-ID" sz="2300" b="0" i="0" dirty="0">
                <a:effectLst/>
                <a:latin typeface="DM Sans"/>
              </a:rPr>
              <a:t> yang </a:t>
            </a:r>
            <a:r>
              <a:rPr lang="en-ID" sz="2300" b="0" i="0" dirty="0" err="1">
                <a:effectLst/>
                <a:latin typeface="DM Sans"/>
              </a:rPr>
              <a:t>dimilikinya</a:t>
            </a:r>
            <a:r>
              <a:rPr lang="en-ID" sz="2300" b="0" i="0" dirty="0">
                <a:effectLst/>
                <a:latin typeface="DM Sans"/>
              </a:rPr>
              <a:t>. </a:t>
            </a:r>
          </a:p>
          <a:p>
            <a:pPr lvl="1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099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95AF-C61F-44EF-9866-8BB26BD87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GB" dirty="0" err="1"/>
              <a:t>Karakteristik</a:t>
            </a:r>
            <a:r>
              <a:rPr lang="en-GB" dirty="0"/>
              <a:t> </a:t>
            </a:r>
            <a:r>
              <a:rPr lang="en-GB" dirty="0" err="1"/>
              <a:t>Manajemen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A54A6-F1D4-496D-A80D-8E277C77C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129"/>
            <a:ext cx="10515600" cy="5486400"/>
          </a:xfrm>
        </p:spPr>
        <p:txBody>
          <a:bodyPr>
            <a:normAutofit fontScale="55000" lnSpcReduction="2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ID" b="1" i="0" dirty="0">
                <a:effectLst/>
                <a:latin typeface="Poppins" panose="00000500000000000000" pitchFamily="2" charset="0"/>
              </a:rPr>
              <a:t>1. </a:t>
            </a:r>
            <a:r>
              <a:rPr lang="en-ID" b="1" i="0" dirty="0" err="1">
                <a:effectLst/>
                <a:latin typeface="Poppins" panose="00000500000000000000" pitchFamily="2" charset="0"/>
              </a:rPr>
              <a:t>Berorientasi</a:t>
            </a:r>
            <a:r>
              <a:rPr lang="en-ID" b="1" i="0" dirty="0">
                <a:effectLst/>
                <a:latin typeface="Poppins" panose="00000500000000000000" pitchFamily="2" charset="0"/>
              </a:rPr>
              <a:t> pada </a:t>
            </a:r>
            <a:r>
              <a:rPr lang="en-ID" b="1" i="0" dirty="0" err="1">
                <a:effectLst/>
                <a:latin typeface="Poppins" panose="00000500000000000000" pitchFamily="2" charset="0"/>
              </a:rPr>
              <a:t>Tujuan</a:t>
            </a:r>
            <a:endParaRPr lang="en-ID" b="1" i="0" dirty="0">
              <a:effectLst/>
              <a:latin typeface="Poppins" panose="00000500000000000000" pitchFamily="2" charset="0"/>
            </a:endParaRPr>
          </a:p>
          <a:p>
            <a:pPr marL="363538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dirty="0" err="1">
                <a:effectLst/>
                <a:latin typeface="DM Sans"/>
              </a:rPr>
              <a:t>Setiap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organisasi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atau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bisnis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memiliki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suatu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tujuan</a:t>
            </a:r>
            <a:r>
              <a:rPr lang="en-ID" b="0" i="0" dirty="0">
                <a:effectLst/>
                <a:latin typeface="DM Sans"/>
              </a:rPr>
              <a:t> yang </a:t>
            </a:r>
            <a:r>
              <a:rPr lang="en-ID" b="0" i="0" dirty="0" err="1">
                <a:effectLst/>
                <a:latin typeface="DM Sans"/>
              </a:rPr>
              <a:t>menjadi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dasar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dari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pembentukannya</a:t>
            </a:r>
            <a:r>
              <a:rPr lang="en-ID" b="0" i="0" dirty="0">
                <a:effectLst/>
                <a:latin typeface="DM Sans"/>
              </a:rPr>
              <a:t>. </a:t>
            </a:r>
            <a:r>
              <a:rPr lang="en-ID" b="0" i="0" dirty="0" err="1">
                <a:effectLst/>
                <a:latin typeface="DM Sans"/>
              </a:rPr>
              <a:t>Manajemen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memiliki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karakteristik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menciptakan</a:t>
            </a:r>
            <a:r>
              <a:rPr lang="en-ID" b="0" i="0" dirty="0">
                <a:effectLst/>
                <a:latin typeface="DM Sans"/>
              </a:rPr>
              <a:t> proses </a:t>
            </a:r>
            <a:r>
              <a:rPr lang="en-ID" b="0" i="0" dirty="0" err="1">
                <a:effectLst/>
                <a:latin typeface="DM Sans"/>
              </a:rPr>
              <a:t>untuk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mencapai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suatu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tujuan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pPr marL="363538" indent="0" algn="l">
              <a:lnSpc>
                <a:spcPct val="120000"/>
              </a:lnSpc>
              <a:spcBef>
                <a:spcPts val="0"/>
              </a:spcBef>
              <a:buNone/>
            </a:pPr>
            <a:endParaRPr lang="en-ID" b="0" i="0" dirty="0">
              <a:effectLst/>
              <a:latin typeface="DM Sans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ID" b="1" i="0" dirty="0">
                <a:effectLst/>
                <a:latin typeface="Poppins" panose="00000500000000000000" pitchFamily="2" charset="0"/>
              </a:rPr>
              <a:t>2. </a:t>
            </a:r>
            <a:r>
              <a:rPr lang="en-ID" b="1" i="0" dirty="0" err="1">
                <a:effectLst/>
                <a:latin typeface="Poppins" panose="00000500000000000000" pitchFamily="2" charset="0"/>
              </a:rPr>
              <a:t>Bersifat</a:t>
            </a:r>
            <a:r>
              <a:rPr lang="en-ID" b="1" i="0" dirty="0">
                <a:effectLst/>
                <a:latin typeface="Poppins" panose="00000500000000000000" pitchFamily="2" charset="0"/>
              </a:rPr>
              <a:t> Luas</a:t>
            </a:r>
          </a:p>
          <a:p>
            <a:pPr marL="363538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dirty="0">
                <a:effectLst/>
                <a:latin typeface="DM Sans"/>
              </a:rPr>
              <a:t>Salah </a:t>
            </a:r>
            <a:r>
              <a:rPr lang="en-ID" b="0" i="0" dirty="0" err="1">
                <a:effectLst/>
                <a:latin typeface="DM Sans"/>
              </a:rPr>
              <a:t>satu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karakteristik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manajemen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selanjutnya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adalah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bersifat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luas</a:t>
            </a:r>
            <a:r>
              <a:rPr lang="en-ID" b="0" i="0" dirty="0">
                <a:effectLst/>
                <a:latin typeface="DM Sans"/>
              </a:rPr>
              <a:t>. </a:t>
            </a:r>
            <a:r>
              <a:rPr lang="en-ID" b="0" i="0" dirty="0" err="1">
                <a:effectLst/>
                <a:latin typeface="DM Sans"/>
              </a:rPr>
              <a:t>Maksudnya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yaitu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semua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kegiatan</a:t>
            </a:r>
            <a:r>
              <a:rPr lang="en-ID" b="0" i="0" dirty="0">
                <a:effectLst/>
                <a:latin typeface="DM Sans"/>
              </a:rPr>
              <a:t> yang </a:t>
            </a:r>
            <a:r>
              <a:rPr lang="en-ID" b="0" i="0" dirty="0" err="1">
                <a:effectLst/>
                <a:latin typeface="DM Sans"/>
              </a:rPr>
              <a:t>terlibat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dalam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mengelola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suatu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perusahaan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termasuk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hal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lumrah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bagi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semua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organisasi</a:t>
            </a:r>
            <a:r>
              <a:rPr lang="en-ID" b="0" i="0" dirty="0">
                <a:effectLst/>
                <a:latin typeface="DM Sans"/>
              </a:rPr>
              <a:t> di </a:t>
            </a:r>
            <a:r>
              <a:rPr lang="en-ID" b="0" i="0" dirty="0" err="1">
                <a:effectLst/>
                <a:latin typeface="DM Sans"/>
              </a:rPr>
              <a:t>berbagai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bidang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pPr marL="363538" indent="0" algn="l">
              <a:lnSpc>
                <a:spcPct val="120000"/>
              </a:lnSpc>
              <a:spcBef>
                <a:spcPts val="0"/>
              </a:spcBef>
              <a:buNone/>
            </a:pPr>
            <a:endParaRPr lang="en-ID" b="0" i="0" dirty="0">
              <a:effectLst/>
              <a:latin typeface="DM Sans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ID" b="1" i="0" dirty="0">
                <a:effectLst/>
                <a:latin typeface="Poppins" panose="00000500000000000000" pitchFamily="2" charset="0"/>
              </a:rPr>
              <a:t>3. </a:t>
            </a:r>
            <a:r>
              <a:rPr lang="en-ID" b="1" i="0" dirty="0" err="1">
                <a:effectLst/>
                <a:latin typeface="Poppins" panose="00000500000000000000" pitchFamily="2" charset="0"/>
              </a:rPr>
              <a:t>Bersifat</a:t>
            </a:r>
            <a:r>
              <a:rPr lang="en-ID" b="1" i="0" dirty="0">
                <a:effectLst/>
                <a:latin typeface="Poppins" panose="00000500000000000000" pitchFamily="2" charset="0"/>
              </a:rPr>
              <a:t> </a:t>
            </a:r>
            <a:r>
              <a:rPr lang="en-ID" b="1" i="0" dirty="0" err="1">
                <a:effectLst/>
                <a:latin typeface="Poppins" panose="00000500000000000000" pitchFamily="2" charset="0"/>
              </a:rPr>
              <a:t>Multidimensi</a:t>
            </a:r>
            <a:endParaRPr lang="en-ID" b="1" i="0" dirty="0">
              <a:effectLst/>
              <a:latin typeface="Poppins" panose="00000500000000000000" pitchFamily="2" charset="0"/>
            </a:endParaRPr>
          </a:p>
          <a:p>
            <a:pPr marL="363538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dirty="0" err="1">
                <a:effectLst/>
                <a:latin typeface="DM Sans"/>
              </a:rPr>
              <a:t>Multidimensi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atau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ada</a:t>
            </a:r>
            <a:r>
              <a:rPr lang="en-ID" b="0" i="0" dirty="0">
                <a:effectLst/>
                <a:latin typeface="DM Sans"/>
              </a:rPr>
              <a:t> di </a:t>
            </a:r>
            <a:r>
              <a:rPr lang="en-ID" b="0" i="0" dirty="0" err="1">
                <a:effectLst/>
                <a:latin typeface="DM Sans"/>
              </a:rPr>
              <a:t>berbagai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dimensi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kehidupan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merupakan</a:t>
            </a:r>
            <a:r>
              <a:rPr lang="en-ID" b="0" i="0" dirty="0">
                <a:effectLst/>
                <a:latin typeface="DM Sans"/>
              </a:rPr>
              <a:t> salah </a:t>
            </a:r>
            <a:r>
              <a:rPr lang="en-ID" b="0" i="0" dirty="0" err="1">
                <a:effectLst/>
                <a:latin typeface="DM Sans"/>
              </a:rPr>
              <a:t>satu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karakteristik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manajemen</a:t>
            </a:r>
            <a:r>
              <a:rPr lang="en-ID" b="0" i="0" dirty="0">
                <a:effectLst/>
                <a:latin typeface="DM Sans"/>
              </a:rPr>
              <a:t>. </a:t>
            </a:r>
            <a:r>
              <a:rPr lang="en-ID" b="0" i="0" dirty="0" err="1">
                <a:effectLst/>
                <a:latin typeface="DM Sans"/>
              </a:rPr>
              <a:t>Karakter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ini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meliputi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pekerjaan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perorangan</a:t>
            </a:r>
            <a:r>
              <a:rPr lang="en-ID" b="0" i="0" dirty="0">
                <a:effectLst/>
                <a:latin typeface="DM Sans"/>
              </a:rPr>
              <a:t>, dan </a:t>
            </a:r>
            <a:r>
              <a:rPr lang="en-ID" b="0" i="0" dirty="0" err="1">
                <a:effectLst/>
                <a:latin typeface="DM Sans"/>
              </a:rPr>
              <a:t>operasi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atau</a:t>
            </a:r>
            <a:r>
              <a:rPr lang="en-ID" b="0" i="0" dirty="0">
                <a:effectLst/>
                <a:latin typeface="DM Sans"/>
              </a:rPr>
              <a:t> proses </a:t>
            </a:r>
            <a:r>
              <a:rPr lang="en-ID" b="0" i="0" dirty="0" err="1">
                <a:effectLst/>
                <a:latin typeface="DM Sans"/>
              </a:rPr>
              <a:t>produksi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pPr marL="363538" indent="0" algn="l">
              <a:lnSpc>
                <a:spcPct val="120000"/>
              </a:lnSpc>
              <a:spcBef>
                <a:spcPts val="0"/>
              </a:spcBef>
              <a:buNone/>
            </a:pPr>
            <a:endParaRPr lang="en-ID" b="0" i="0" dirty="0">
              <a:effectLst/>
              <a:latin typeface="DM Sans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ID" b="1" i="0" dirty="0">
                <a:effectLst/>
                <a:latin typeface="Poppins" panose="00000500000000000000" pitchFamily="2" charset="0"/>
              </a:rPr>
              <a:t>4. Proses yang </a:t>
            </a:r>
            <a:r>
              <a:rPr lang="en-ID" b="1" i="0" dirty="0" err="1">
                <a:effectLst/>
                <a:latin typeface="Poppins" panose="00000500000000000000" pitchFamily="2" charset="0"/>
              </a:rPr>
              <a:t>Berkelanjutan</a:t>
            </a:r>
            <a:endParaRPr lang="en-ID" b="1" i="0" dirty="0">
              <a:effectLst/>
              <a:latin typeface="Poppins" panose="00000500000000000000" pitchFamily="2" charset="0"/>
            </a:endParaRPr>
          </a:p>
          <a:p>
            <a:pPr marL="363538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dirty="0" err="1">
                <a:effectLst/>
                <a:latin typeface="DM Sans"/>
              </a:rPr>
              <a:t>Dalam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prosesnya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manajemen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merupakan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serangkaian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fungsi</a:t>
            </a:r>
            <a:r>
              <a:rPr lang="en-ID" b="0" i="0" dirty="0">
                <a:effectLst/>
                <a:latin typeface="DM Sans"/>
              </a:rPr>
              <a:t> yang </a:t>
            </a:r>
            <a:r>
              <a:rPr lang="en-ID" b="0" i="0" dirty="0" err="1">
                <a:effectLst/>
                <a:latin typeface="DM Sans"/>
              </a:rPr>
              <a:t>berkelanjutan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meliputi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perencanaan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pengarahan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penempatan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staf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pengendalian</a:t>
            </a:r>
            <a:r>
              <a:rPr lang="en-ID" b="0" i="0" dirty="0">
                <a:effectLst/>
                <a:latin typeface="DM Sans"/>
              </a:rPr>
              <a:t>, dan </a:t>
            </a:r>
            <a:r>
              <a:rPr lang="en-ID" b="0" i="0" dirty="0" err="1">
                <a:effectLst/>
                <a:latin typeface="DM Sans"/>
              </a:rPr>
              <a:t>pengoorganisasian</a:t>
            </a:r>
            <a:r>
              <a:rPr lang="en-ID" b="0" i="0" dirty="0">
                <a:effectLst/>
                <a:latin typeface="DM Sans"/>
              </a:rPr>
              <a:t> yang </a:t>
            </a:r>
            <a:r>
              <a:rPr lang="en-ID" b="0" i="0" dirty="0" err="1">
                <a:effectLst/>
                <a:latin typeface="DM Sans"/>
              </a:rPr>
              <a:t>dilakukan</a:t>
            </a:r>
            <a:r>
              <a:rPr lang="en-ID" b="0" i="0" dirty="0">
                <a:effectLst/>
                <a:latin typeface="DM Sans"/>
              </a:rPr>
              <a:t> oleh </a:t>
            </a:r>
            <a:r>
              <a:rPr lang="en-ID" b="0" i="0" dirty="0" err="1">
                <a:effectLst/>
                <a:latin typeface="DM Sans"/>
              </a:rPr>
              <a:t>semua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manajer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sepanjang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waktu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pPr marL="363538" indent="0" algn="l">
              <a:lnSpc>
                <a:spcPct val="120000"/>
              </a:lnSpc>
              <a:spcBef>
                <a:spcPts val="0"/>
              </a:spcBef>
              <a:buNone/>
            </a:pPr>
            <a:endParaRPr lang="en-ID" b="0" i="0" dirty="0">
              <a:effectLst/>
              <a:latin typeface="DM Sans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ID" b="1" i="0" dirty="0">
                <a:effectLst/>
                <a:latin typeface="Poppins" panose="00000500000000000000" pitchFamily="2" charset="0"/>
              </a:rPr>
              <a:t>5. </a:t>
            </a:r>
            <a:r>
              <a:rPr lang="en-ID" b="1" i="0" dirty="0" err="1">
                <a:effectLst/>
                <a:latin typeface="Poppins" panose="00000500000000000000" pitchFamily="2" charset="0"/>
              </a:rPr>
              <a:t>Kegiatan</a:t>
            </a:r>
            <a:r>
              <a:rPr lang="en-ID" b="1" i="0" dirty="0">
                <a:effectLst/>
                <a:latin typeface="Poppins" panose="00000500000000000000" pitchFamily="2" charset="0"/>
              </a:rPr>
              <a:t> </a:t>
            </a:r>
            <a:r>
              <a:rPr lang="en-ID" b="1" i="0" dirty="0" err="1">
                <a:effectLst/>
                <a:latin typeface="Poppins" panose="00000500000000000000" pitchFamily="2" charset="0"/>
              </a:rPr>
              <a:t>Kelompok</a:t>
            </a:r>
            <a:endParaRPr lang="en-ID" b="1" i="0" dirty="0">
              <a:effectLst/>
              <a:latin typeface="Poppins" panose="00000500000000000000" pitchFamily="2" charset="0"/>
            </a:endParaRPr>
          </a:p>
          <a:p>
            <a:pPr marL="363538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dirty="0" err="1">
                <a:effectLst/>
                <a:latin typeface="DM Sans"/>
              </a:rPr>
              <a:t>Kegiatan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kelompok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adalah</a:t>
            </a:r>
            <a:r>
              <a:rPr lang="en-ID" b="0" i="0" dirty="0">
                <a:effectLst/>
                <a:latin typeface="DM Sans"/>
              </a:rPr>
              <a:t> salah </a:t>
            </a:r>
            <a:r>
              <a:rPr lang="en-ID" b="0" i="0" dirty="0" err="1">
                <a:effectLst/>
                <a:latin typeface="DM Sans"/>
              </a:rPr>
              <a:t>satu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karakteristik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manajemen</a:t>
            </a:r>
            <a:r>
              <a:rPr lang="en-ID" b="0" i="0" dirty="0">
                <a:effectLst/>
                <a:latin typeface="DM Sans"/>
              </a:rPr>
              <a:t>. Hal </a:t>
            </a:r>
            <a:r>
              <a:rPr lang="en-ID" b="0" i="0" dirty="0" err="1">
                <a:effectLst/>
                <a:latin typeface="DM Sans"/>
              </a:rPr>
              <a:t>ini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karena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dalam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prosesnya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tidak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bisa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dilakukan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secara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individu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tetapi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harus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bersama-sama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pPr marL="363538" indent="0" algn="l">
              <a:lnSpc>
                <a:spcPct val="120000"/>
              </a:lnSpc>
              <a:spcBef>
                <a:spcPts val="0"/>
              </a:spcBef>
              <a:buNone/>
            </a:pPr>
            <a:endParaRPr lang="en-ID" b="0" i="0" dirty="0">
              <a:effectLst/>
              <a:latin typeface="DM Sans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ID" b="1" i="0" dirty="0">
                <a:effectLst/>
                <a:latin typeface="Poppins" panose="00000500000000000000" pitchFamily="2" charset="0"/>
              </a:rPr>
              <a:t>6. </a:t>
            </a:r>
            <a:r>
              <a:rPr lang="en-ID" b="1" i="0" dirty="0" err="1">
                <a:effectLst/>
                <a:latin typeface="Poppins" panose="00000500000000000000" pitchFamily="2" charset="0"/>
              </a:rPr>
              <a:t>Kekuatan</a:t>
            </a:r>
            <a:r>
              <a:rPr lang="en-ID" b="1" i="0" dirty="0">
                <a:effectLst/>
                <a:latin typeface="Poppins" panose="00000500000000000000" pitchFamily="2" charset="0"/>
              </a:rPr>
              <a:t> yang </a:t>
            </a:r>
            <a:r>
              <a:rPr lang="en-ID" b="1" i="0" dirty="0" err="1">
                <a:effectLst/>
                <a:latin typeface="Poppins" panose="00000500000000000000" pitchFamily="2" charset="0"/>
              </a:rPr>
              <a:t>Tidak</a:t>
            </a:r>
            <a:r>
              <a:rPr lang="en-ID" b="1" i="0" dirty="0">
                <a:effectLst/>
                <a:latin typeface="Poppins" panose="00000500000000000000" pitchFamily="2" charset="0"/>
              </a:rPr>
              <a:t> </a:t>
            </a:r>
            <a:r>
              <a:rPr lang="en-ID" b="1" i="0" dirty="0" err="1">
                <a:effectLst/>
                <a:latin typeface="Poppins" panose="00000500000000000000" pitchFamily="2" charset="0"/>
              </a:rPr>
              <a:t>Berwujud</a:t>
            </a:r>
            <a:endParaRPr lang="en-ID" b="1" i="0" dirty="0">
              <a:effectLst/>
              <a:latin typeface="Poppins" panose="00000500000000000000" pitchFamily="2" charset="0"/>
            </a:endParaRPr>
          </a:p>
          <a:p>
            <a:pPr marL="363538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dirty="0">
                <a:effectLst/>
                <a:latin typeface="DM Sans"/>
              </a:rPr>
              <a:t>Salah </a:t>
            </a:r>
            <a:r>
              <a:rPr lang="en-ID" b="0" i="0" dirty="0" err="1">
                <a:effectLst/>
                <a:latin typeface="DM Sans"/>
              </a:rPr>
              <a:t>satu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karakteristik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manajemen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terakhir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adalah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kekuatan</a:t>
            </a:r>
            <a:r>
              <a:rPr lang="en-ID" b="0" i="0" dirty="0">
                <a:effectLst/>
                <a:latin typeface="DM Sans"/>
              </a:rPr>
              <a:t> yang </a:t>
            </a:r>
            <a:r>
              <a:rPr lang="en-ID" b="0" i="0" dirty="0" err="1">
                <a:effectLst/>
                <a:latin typeface="DM Sans"/>
              </a:rPr>
              <a:t>tidak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berwujud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namun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hasilnya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bisa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kamu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lihat</a:t>
            </a:r>
            <a:r>
              <a:rPr lang="en-ID" b="0" i="0" dirty="0">
                <a:effectLst/>
                <a:latin typeface="DM Sans"/>
              </a:rPr>
              <a:t> dan </a:t>
            </a:r>
            <a:r>
              <a:rPr lang="en-ID" b="0" i="0" dirty="0" err="1">
                <a:effectLst/>
                <a:latin typeface="DM Sans"/>
              </a:rPr>
              <a:t>rasakan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secara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fungsional</a:t>
            </a:r>
            <a:r>
              <a:rPr lang="en-ID" b="0" i="0" dirty="0">
                <a:effectLst/>
                <a:latin typeface="DM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8665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D320-ABEA-4806-A413-D4C291368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4087"/>
          </a:xfrm>
        </p:spPr>
        <p:txBody>
          <a:bodyPr/>
          <a:lstStyle/>
          <a:p>
            <a:r>
              <a:rPr lang="en-GB" dirty="0" err="1"/>
              <a:t>Jenjang</a:t>
            </a:r>
            <a:r>
              <a:rPr lang="en-GB" dirty="0"/>
              <a:t> </a:t>
            </a:r>
            <a:r>
              <a:rPr lang="en-GB" dirty="0" err="1"/>
              <a:t>Manajemen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F4389-7B65-4A21-98DD-97777B093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juga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memiliki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jenjang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tingkatan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mulai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dari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lebih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tinggi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lebih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rendah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Adapun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tingkatannya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sebagai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berikut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:</a:t>
            </a:r>
          </a:p>
          <a:p>
            <a:pPr marL="0" indent="0" algn="l">
              <a:buNone/>
            </a:pPr>
            <a:endParaRPr lang="en-ID" sz="1900" b="0" i="0" dirty="0">
              <a:solidFill>
                <a:srgbClr val="003768"/>
              </a:solidFill>
              <a:effectLst/>
              <a:latin typeface="DM Sans"/>
            </a:endParaRPr>
          </a:p>
          <a:p>
            <a:pPr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1.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Manajemen</a:t>
            </a:r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Puncak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444500" indent="0" algn="l">
              <a:buNone/>
            </a:pP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Bagian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bertugas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untuk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melaksanakan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konsep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terdiri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dari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direktur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direksi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pPr algn="l"/>
            <a:endParaRPr lang="en-ID" sz="1900" b="0" i="0" dirty="0">
              <a:solidFill>
                <a:srgbClr val="003768"/>
              </a:solidFill>
              <a:effectLst/>
              <a:latin typeface="DM Sans"/>
            </a:endParaRPr>
          </a:p>
          <a:p>
            <a:pPr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2.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Manajemen</a:t>
            </a:r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Menengah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444500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Tugas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bagian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menjalankan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perintah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bagian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puncak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untuk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mengembangkan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kebijakan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ada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Adapun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termasuk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dalam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jenjang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yaitu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pemimpin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cabang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kepala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departemen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pPr algn="l"/>
            <a:endParaRPr lang="en-ID" sz="1700" b="0" i="0" dirty="0">
              <a:solidFill>
                <a:srgbClr val="003768"/>
              </a:solidFill>
              <a:effectLst/>
              <a:latin typeface="DM Sans"/>
            </a:endParaRPr>
          </a:p>
          <a:p>
            <a:pPr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3.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Manajemen</a:t>
            </a:r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Pelaksana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444500" indent="0" algn="l">
              <a:buNone/>
            </a:pP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Bagian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bawah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bertugas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untuk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menjalankan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kebijakan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bagian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menengah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dan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mengawasi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para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pekerja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42678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0E5DA-079F-4624-A259-FDB5B89E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txBody>
          <a:bodyPr/>
          <a:lstStyle/>
          <a:p>
            <a:r>
              <a:rPr lang="en-GB" dirty="0" err="1"/>
              <a:t>Prinsip</a:t>
            </a:r>
            <a:r>
              <a:rPr lang="en-GB" dirty="0"/>
              <a:t> </a:t>
            </a:r>
            <a:r>
              <a:rPr lang="en-GB" dirty="0" err="1"/>
              <a:t>Manajemen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F2A4F-5E89-4D07-87AA-7BB4DA943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4024"/>
            <a:ext cx="10515600" cy="4912939"/>
          </a:xfrm>
        </p:spPr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Pembagian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kerja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sesuai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bidang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sehingga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pekerjaan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lebih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efisien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Otoritas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agar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semuanya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berjalan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teratur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dan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selesai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tepat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waktu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Disiplin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melalui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pemberian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hukuman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 </a:t>
            </a:r>
            <a:r>
              <a:rPr lang="en-ID" b="0" i="1" dirty="0">
                <a:solidFill>
                  <a:srgbClr val="003768"/>
                </a:solidFill>
                <a:effectLst/>
                <a:latin typeface="DM Sans"/>
              </a:rPr>
              <a:t>reward 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tertentu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Kesatuan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perintah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berdasarkan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pada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satu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sumber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sama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Arah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tujuan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sama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Kepentingan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bersama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lebih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diutamakan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daripada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kepentingan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pribadi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Gaji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pemberiannya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harus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adil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rata.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Pemusatan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perintah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harus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berasal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dari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pusat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Ada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jenjang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jabatan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untuk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memperjelas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tugas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masing-masing.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Tata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tertib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semua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hal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di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posisi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benar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Adil,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terhadap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seluruh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karyawannya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tanpa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membeda-bedakan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Stabil,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dalam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melaksanakan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tugas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Inisiatif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dalam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melakukan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pekerjaan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tugas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masing-masing.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Semangat</a:t>
            </a:r>
            <a:r>
              <a:rPr lang="en-ID" dirty="0">
                <a:solidFill>
                  <a:srgbClr val="003768"/>
                </a:solidFill>
                <a:latin typeface="DM Sans"/>
              </a:rPr>
              <a:t> </a:t>
            </a:r>
            <a:r>
              <a:rPr lang="en-ID" dirty="0" err="1">
                <a:solidFill>
                  <a:srgbClr val="003768"/>
                </a:solidFill>
                <a:latin typeface="DM Sans"/>
              </a:rPr>
              <a:t>kerja</a:t>
            </a:r>
            <a:r>
              <a:rPr lang="en-ID" dirty="0">
                <a:solidFill>
                  <a:srgbClr val="003768"/>
                </a:solidFill>
                <a:latin typeface="DM Sans"/>
              </a:rPr>
              <a:t>.</a:t>
            </a:r>
            <a:endParaRPr lang="en-ID" b="0" i="0" dirty="0">
              <a:solidFill>
                <a:srgbClr val="003768"/>
              </a:solidFill>
              <a:effectLst/>
              <a:latin typeface="DM Sans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14289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441D-B576-43C4-A8D7-408A4CA5E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1322"/>
          </a:xfrm>
        </p:spPr>
        <p:txBody>
          <a:bodyPr/>
          <a:lstStyle/>
          <a:p>
            <a:r>
              <a:rPr lang="en-GB" dirty="0" err="1"/>
              <a:t>Fungsi</a:t>
            </a:r>
            <a:r>
              <a:rPr lang="en-GB" dirty="0"/>
              <a:t> </a:t>
            </a:r>
            <a:r>
              <a:rPr lang="en-GB" dirty="0" err="1"/>
              <a:t>Manajemen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BE89-086A-472C-8832-95CC6595E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470"/>
            <a:ext cx="10515600" cy="521540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1.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Perencanaan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36353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Fungsi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dalam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konsep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dasar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yaitu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membuat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perencanaan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di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setiap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jenjang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mulai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dari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jenjang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hingga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bawah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Perencanaan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jenjang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lebih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menyeluruh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sedangkan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jenjang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selanjutnya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berhubungan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dengan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perencanaan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di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atasnya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pPr marL="363538" indent="0" algn="l">
              <a:buNone/>
            </a:pPr>
            <a:endParaRPr lang="en-ID" sz="2200" b="0" i="0" dirty="0">
              <a:solidFill>
                <a:srgbClr val="003768"/>
              </a:solidFill>
              <a:effectLst/>
              <a:latin typeface="DM Sans"/>
            </a:endParaRPr>
          </a:p>
          <a:p>
            <a:pPr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2.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Pengorganisasian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36353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Mengetahui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konsep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dasar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berfungsi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sebagai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pengorganisasian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Maksudnya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yaitu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adanya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proses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pengaturan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pengelompokkan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sesuatu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untuk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tujuan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tertentu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pPr marL="36353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Setiap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kelompok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tersebut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memiliki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fungsinya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masing-masing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mulai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dari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atasan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hingga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staf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Misalnya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seorang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staf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memiliki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tugas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untuk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melaksanakan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perintah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dari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pimpinan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pPr marL="363538" indent="0" algn="l">
              <a:buNone/>
            </a:pPr>
            <a:endParaRPr lang="en-ID" sz="2500" b="0" i="0" dirty="0">
              <a:solidFill>
                <a:srgbClr val="003768"/>
              </a:solidFill>
              <a:effectLst/>
              <a:latin typeface="DM Sans"/>
            </a:endParaRPr>
          </a:p>
          <a:p>
            <a:pPr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3.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Pelaksanaan</a:t>
            </a:r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atau</a:t>
            </a:r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Pengarahan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363538" indent="0" algn="l">
              <a:buNone/>
            </a:pPr>
            <a:r>
              <a:rPr lang="en-ID" b="0" i="0" dirty="0" err="1">
                <a:effectLst/>
                <a:latin typeface="DM Sans"/>
              </a:rPr>
              <a:t>Fungsi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manajemen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selanjutnya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yaitu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sebagai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pelaksanaan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dan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pengarahan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Dalam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menjalankan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fungsi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ada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beberapa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jenis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pemimpin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yaitu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otoriter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demokratis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dan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bebas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marL="36353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Otoriter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merupakan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jenis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kepemimpinan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proses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pengambilan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keputusannya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mutlak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oleh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pimpinan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marL="36353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Demokratis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adalah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kebalikan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dari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otoriter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dimana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dalam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proses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pengambilan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keputusannya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berdasarkan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pemungutan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suara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marL="36353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Sedangkan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bebas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pemimpin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tidak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menentukan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keputusan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namun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memberikan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nasehat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pPr marL="363538" indent="0" algn="l">
              <a:buNone/>
            </a:pPr>
            <a:endParaRPr lang="en-ID" sz="2500" b="0" i="0" dirty="0">
              <a:solidFill>
                <a:srgbClr val="003768"/>
              </a:solidFill>
              <a:effectLst/>
              <a:latin typeface="DM Sans"/>
            </a:endParaRPr>
          </a:p>
          <a:p>
            <a:pPr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4.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Pengawasan</a:t>
            </a:r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atau</a:t>
            </a:r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Pengendalian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36353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Terakhir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yaitu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fungsi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pengawasan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berarti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melakukan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pengawasan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terhadap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hasil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kerja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apakah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sudah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bagus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belum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Kemudian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melakukan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pengendalian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agar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mendapatkan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hasil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  yang optimal.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88134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B795B-287B-4CB1-A274-E774E644E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GB" dirty="0" err="1"/>
              <a:t>Teori</a:t>
            </a:r>
            <a:r>
              <a:rPr lang="en-GB" dirty="0"/>
              <a:t> </a:t>
            </a:r>
            <a:r>
              <a:rPr lang="en-GB" dirty="0" err="1"/>
              <a:t>Manajemen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A5EB-D971-4803-B058-DA07650D2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835"/>
            <a:ext cx="10515600" cy="4872598"/>
          </a:xfrm>
        </p:spPr>
        <p:txBody>
          <a:bodyPr>
            <a:normAutofit fontScale="92500" lnSpcReduction="10000"/>
          </a:bodyPr>
          <a:lstStyle/>
          <a:p>
            <a:pPr marL="363538" indent="-363538" algn="l">
              <a:buFont typeface="+mj-lt"/>
              <a:buAutoNum type="arabicPeriod"/>
            </a:pPr>
            <a:r>
              <a:rPr lang="en-ID" b="0" i="0" dirty="0" err="1">
                <a:effectLst/>
                <a:latin typeface="DM Sans"/>
              </a:rPr>
              <a:t>Klasik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pengertian</a:t>
            </a:r>
            <a:r>
              <a:rPr lang="en-ID" b="0" i="0" dirty="0">
                <a:effectLst/>
                <a:latin typeface="DM Sans"/>
              </a:rPr>
              <a:t> yang paling </a:t>
            </a:r>
            <a:r>
              <a:rPr lang="en-ID" b="0" i="0" dirty="0" err="1">
                <a:effectLst/>
                <a:latin typeface="DM Sans"/>
              </a:rPr>
              <a:t>tepat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mengenai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teori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ini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yaitu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menekankan</a:t>
            </a:r>
            <a:r>
              <a:rPr lang="en-ID" b="0" i="0" dirty="0">
                <a:effectLst/>
                <a:latin typeface="DM Sans"/>
              </a:rPr>
              <a:t> pada </a:t>
            </a:r>
            <a:r>
              <a:rPr lang="en-ID" b="0" i="0" dirty="0" err="1">
                <a:effectLst/>
                <a:latin typeface="DM Sans"/>
              </a:rPr>
              <a:t>fungsi-fungsi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manajemen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pPr marL="363538" indent="-363538" algn="l">
              <a:buFont typeface="+mj-lt"/>
              <a:buAutoNum type="arabicPeriod"/>
            </a:pPr>
            <a:r>
              <a:rPr lang="en-ID" b="0" i="0" dirty="0" err="1">
                <a:effectLst/>
                <a:latin typeface="DM Sans"/>
              </a:rPr>
              <a:t>Perilaku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lebih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menekankan</a:t>
            </a:r>
            <a:r>
              <a:rPr lang="en-ID" b="0" i="0" dirty="0">
                <a:effectLst/>
                <a:latin typeface="DM Sans"/>
              </a:rPr>
              <a:t> pada </a:t>
            </a:r>
            <a:r>
              <a:rPr lang="en-ID" b="0" i="0" dirty="0" err="1">
                <a:effectLst/>
                <a:latin typeface="DM Sans"/>
              </a:rPr>
              <a:t>hubungan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manusia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seperti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bagaimana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cara</a:t>
            </a:r>
            <a:r>
              <a:rPr lang="en-ID" b="0" i="0" dirty="0">
                <a:effectLst/>
                <a:latin typeface="DM Sans"/>
              </a:rPr>
              <a:t> agar para </a:t>
            </a:r>
            <a:r>
              <a:rPr lang="en-ID" b="0" i="0" dirty="0" err="1">
                <a:effectLst/>
                <a:latin typeface="DM Sans"/>
              </a:rPr>
              <a:t>pegawai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melakukan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pekerjaannya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bisa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efektif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pPr marL="363538" indent="-363538" algn="l">
              <a:buFont typeface="+mj-lt"/>
              <a:buAutoNum type="arabicPeriod"/>
            </a:pPr>
            <a:r>
              <a:rPr lang="en-ID" b="0" i="0" dirty="0" err="1">
                <a:effectLst/>
                <a:latin typeface="DM Sans"/>
              </a:rPr>
              <a:t>Perencanaan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ilmiah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menekankan</a:t>
            </a:r>
            <a:r>
              <a:rPr lang="en-ID" b="0" i="0" dirty="0">
                <a:effectLst/>
                <a:latin typeface="DM Sans"/>
              </a:rPr>
              <a:t> pada </a:t>
            </a:r>
            <a:r>
              <a:rPr lang="en-ID" b="0" i="0" dirty="0" err="1">
                <a:effectLst/>
                <a:latin typeface="DM Sans"/>
              </a:rPr>
              <a:t>ilmu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matematika</a:t>
            </a:r>
            <a:r>
              <a:rPr lang="en-ID" b="0" i="0" dirty="0">
                <a:effectLst/>
                <a:latin typeface="DM Sans"/>
              </a:rPr>
              <a:t> dan </a:t>
            </a:r>
            <a:r>
              <a:rPr lang="en-ID" b="0" i="0" dirty="0" err="1">
                <a:effectLst/>
                <a:latin typeface="DM Sans"/>
              </a:rPr>
              <a:t>statistik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dalam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menentukan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perencanaan</a:t>
            </a:r>
            <a:r>
              <a:rPr lang="en-ID" b="0" i="0" dirty="0">
                <a:effectLst/>
                <a:latin typeface="DM Sans"/>
              </a:rPr>
              <a:t>. </a:t>
            </a:r>
          </a:p>
          <a:p>
            <a:pPr marL="363538" indent="-363538" algn="l">
              <a:buFont typeface="+mj-lt"/>
              <a:buAutoNum type="arabicPeriod"/>
            </a:pPr>
            <a:r>
              <a:rPr lang="en-ID" b="0" i="0" dirty="0" err="1">
                <a:effectLst/>
                <a:latin typeface="DM Sans"/>
              </a:rPr>
              <a:t>Analisis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sistem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menekankan</a:t>
            </a:r>
            <a:r>
              <a:rPr lang="en-ID" b="0" i="0" dirty="0">
                <a:effectLst/>
                <a:latin typeface="DM Sans"/>
              </a:rPr>
              <a:t> pada </a:t>
            </a:r>
            <a:r>
              <a:rPr lang="en-ID" b="0" i="0" dirty="0" err="1">
                <a:effectLst/>
                <a:latin typeface="DM Sans"/>
              </a:rPr>
              <a:t>analisis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secara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menyeluruh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seperti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memperhitungkan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faktor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kesejahteraan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gaji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kesehatan</a:t>
            </a:r>
            <a:r>
              <a:rPr lang="en-ID" b="0" i="0" dirty="0">
                <a:effectLst/>
                <a:latin typeface="DM Sans"/>
              </a:rPr>
              <a:t>, dan lain-lain. </a:t>
            </a:r>
          </a:p>
          <a:p>
            <a:pPr marL="363538" indent="-363538" algn="l">
              <a:buFont typeface="+mj-lt"/>
              <a:buAutoNum type="arabicPeriod"/>
            </a:pPr>
            <a:r>
              <a:rPr lang="en-ID" b="0" i="0" dirty="0" err="1">
                <a:effectLst/>
                <a:latin typeface="DM Sans"/>
              </a:rPr>
              <a:t>Perencanaan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berdasarkan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hasil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menekankan</a:t>
            </a:r>
            <a:r>
              <a:rPr lang="en-ID" b="0" i="0" dirty="0">
                <a:effectLst/>
                <a:latin typeface="DM Sans"/>
              </a:rPr>
              <a:t> pada </a:t>
            </a:r>
            <a:r>
              <a:rPr lang="en-ID" b="0" i="0" dirty="0" err="1">
                <a:effectLst/>
                <a:latin typeface="DM Sans"/>
              </a:rPr>
              <a:t>hasilnya</a:t>
            </a:r>
            <a:r>
              <a:rPr lang="en-ID" b="0" i="0" dirty="0">
                <a:effectLst/>
                <a:latin typeface="DM Sans"/>
              </a:rPr>
              <a:t> dan </a:t>
            </a:r>
            <a:r>
              <a:rPr lang="en-ID" b="0" i="0" dirty="0" err="1">
                <a:effectLst/>
                <a:latin typeface="DM Sans"/>
              </a:rPr>
              <a:t>rencananya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tidak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terlalu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diperhatikan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pPr marL="363538" indent="-363538" algn="l">
              <a:buFont typeface="+mj-lt"/>
              <a:buAutoNum type="arabicPeriod"/>
            </a:pPr>
            <a:r>
              <a:rPr lang="en-ID" b="0" i="0" dirty="0" err="1">
                <a:effectLst/>
                <a:latin typeface="DM Sans"/>
              </a:rPr>
              <a:t>Perencanaan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mutu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menekankan</a:t>
            </a:r>
            <a:r>
              <a:rPr lang="en-ID" b="0" i="0" dirty="0">
                <a:effectLst/>
                <a:latin typeface="DM Sans"/>
              </a:rPr>
              <a:t> pada </a:t>
            </a:r>
            <a:r>
              <a:rPr lang="en-ID" b="0" i="0" dirty="0" err="1">
                <a:effectLst/>
                <a:latin typeface="DM Sans"/>
              </a:rPr>
              <a:t>kualitas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barang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untuk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kepuasan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konsumen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3183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81BB-A6C5-40FD-BB97-BF3B1E827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4087"/>
          </a:xfrm>
        </p:spPr>
        <p:txBody>
          <a:bodyPr/>
          <a:lstStyle/>
          <a:p>
            <a:r>
              <a:rPr lang="en-GB" dirty="0" err="1"/>
              <a:t>Bidang</a:t>
            </a:r>
            <a:r>
              <a:rPr lang="en-GB" dirty="0"/>
              <a:t> </a:t>
            </a:r>
            <a:r>
              <a:rPr lang="en-GB" dirty="0" err="1"/>
              <a:t>Manajemen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B2F62-092D-4F94-AFA4-97781FA7D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812"/>
            <a:ext cx="10515600" cy="4859151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ID" b="0" i="0" dirty="0" err="1">
                <a:effectLst/>
                <a:latin typeface="DM Sans"/>
              </a:rPr>
              <a:t>Konsep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dasar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manajemen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terbagi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menjadi</a:t>
            </a:r>
            <a:r>
              <a:rPr lang="en-ID" b="0" i="0" dirty="0">
                <a:effectLst/>
                <a:latin typeface="DM Sans"/>
              </a:rPr>
              <a:t> 5 </a:t>
            </a:r>
            <a:r>
              <a:rPr lang="en-ID" b="0" i="0" dirty="0" err="1">
                <a:effectLst/>
                <a:latin typeface="DM Sans"/>
              </a:rPr>
              <a:t>bidang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penting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yaitu</a:t>
            </a:r>
            <a:r>
              <a:rPr lang="en-ID" b="0" i="0" dirty="0">
                <a:effectLst/>
                <a:latin typeface="DM Sans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en-ID" b="0" i="0" dirty="0" err="1">
                <a:effectLst/>
                <a:latin typeface="DM Sans"/>
              </a:rPr>
              <a:t>Produksi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bidang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ini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bertugas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mengubah</a:t>
            </a:r>
            <a:r>
              <a:rPr lang="en-ID" b="0" i="0" dirty="0">
                <a:effectLst/>
                <a:latin typeface="DM Sans"/>
              </a:rPr>
              <a:t> </a:t>
            </a:r>
            <a:r>
              <a:rPr lang="en-ID" b="0" i="1" dirty="0">
                <a:effectLst/>
                <a:latin typeface="DM Sans"/>
              </a:rPr>
              <a:t>input </a:t>
            </a:r>
            <a:r>
              <a:rPr lang="en-ID" b="0" i="0" dirty="0" err="1">
                <a:effectLst/>
                <a:latin typeface="DM Sans"/>
              </a:rPr>
              <a:t>menjadi</a:t>
            </a:r>
            <a:r>
              <a:rPr lang="en-ID" b="0" i="0" dirty="0">
                <a:effectLst/>
                <a:latin typeface="DM Sans"/>
              </a:rPr>
              <a:t> </a:t>
            </a:r>
            <a:r>
              <a:rPr lang="en-ID" b="0" i="1" dirty="0">
                <a:effectLst/>
                <a:latin typeface="DM Sans"/>
              </a:rPr>
              <a:t>output</a:t>
            </a:r>
            <a:r>
              <a:rPr lang="en-ID" b="0" i="0" dirty="0">
                <a:effectLst/>
                <a:latin typeface="DM Sans"/>
              </a:rPr>
              <a:t>. </a:t>
            </a:r>
            <a:r>
              <a:rPr lang="en-ID" b="0" i="0" dirty="0" err="1">
                <a:effectLst/>
                <a:latin typeface="DM Sans"/>
              </a:rPr>
              <a:t>Semua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sumber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dikumpulkan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kemudian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diproses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menjadi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suatu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hasil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produksi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atau</a:t>
            </a:r>
            <a:r>
              <a:rPr lang="en-ID" b="0" i="0" dirty="0">
                <a:effectLst/>
                <a:latin typeface="DM Sans"/>
              </a:rPr>
              <a:t> </a:t>
            </a:r>
            <a:r>
              <a:rPr lang="en-ID" b="0" i="1" dirty="0">
                <a:effectLst/>
                <a:latin typeface="DM Sans"/>
              </a:rPr>
              <a:t>output</a:t>
            </a:r>
            <a:r>
              <a:rPr lang="en-ID" b="0" i="0" dirty="0">
                <a:effectLst/>
                <a:latin typeface="DM Sans"/>
              </a:rPr>
              <a:t>. </a:t>
            </a:r>
          </a:p>
          <a:p>
            <a:pPr algn="l">
              <a:buFont typeface="+mj-lt"/>
              <a:buAutoNum type="arabicPeriod"/>
            </a:pPr>
            <a:r>
              <a:rPr lang="en-ID" b="0" i="0" dirty="0" err="1">
                <a:effectLst/>
                <a:latin typeface="DM Sans"/>
              </a:rPr>
              <a:t>Pemasaran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bidang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ini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berfungsi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untuk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mencari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cara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bagaimana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barang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atau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produk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dari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produsen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bisa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sampai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ke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konsumen</a:t>
            </a:r>
            <a:r>
              <a:rPr lang="en-ID" b="0" i="0" dirty="0">
                <a:effectLst/>
                <a:latin typeface="DM Sans"/>
              </a:rPr>
              <a:t>. </a:t>
            </a:r>
          </a:p>
          <a:p>
            <a:pPr algn="l">
              <a:buFont typeface="+mj-lt"/>
              <a:buAutoNum type="arabicPeriod"/>
            </a:pPr>
            <a:r>
              <a:rPr lang="en-ID" b="0" i="0" dirty="0" err="1">
                <a:effectLst/>
                <a:latin typeface="DM Sans"/>
              </a:rPr>
              <a:t>Keuangan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bidang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ini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akan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mencari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cara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bagaimana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untuk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mendapatkan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pemasukan</a:t>
            </a:r>
            <a:r>
              <a:rPr lang="en-ID" b="0" i="0" dirty="0">
                <a:effectLst/>
                <a:latin typeface="DM Sans"/>
              </a:rPr>
              <a:t>, dan </a:t>
            </a:r>
            <a:r>
              <a:rPr lang="en-ID" b="0" i="0" dirty="0" err="1">
                <a:effectLst/>
                <a:latin typeface="DM Sans"/>
              </a:rPr>
              <a:t>menggunakannya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atau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mengolahnya</a:t>
            </a:r>
            <a:r>
              <a:rPr lang="en-ID" b="0" i="0" dirty="0">
                <a:effectLst/>
                <a:latin typeface="DM Sans"/>
              </a:rPr>
              <a:t>. </a:t>
            </a:r>
          </a:p>
          <a:p>
            <a:pPr algn="l">
              <a:buFont typeface="+mj-lt"/>
              <a:buAutoNum type="arabicPeriod"/>
            </a:pPr>
            <a:r>
              <a:rPr lang="en-ID" b="0" i="0" dirty="0">
                <a:effectLst/>
                <a:latin typeface="DM Sans"/>
              </a:rPr>
              <a:t>Personalia, </a:t>
            </a:r>
            <a:r>
              <a:rPr lang="en-ID" b="0" i="0" dirty="0" err="1">
                <a:effectLst/>
                <a:latin typeface="DM Sans"/>
              </a:rPr>
              <a:t>bidang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ini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menitikberatkan</a:t>
            </a:r>
            <a:r>
              <a:rPr lang="en-ID" b="0" i="0" dirty="0">
                <a:effectLst/>
                <a:latin typeface="DM Sans"/>
              </a:rPr>
              <a:t> pada </a:t>
            </a:r>
            <a:r>
              <a:rPr lang="en-ID" b="0" i="0" dirty="0" err="1">
                <a:effectLst/>
                <a:latin typeface="DM Sans"/>
              </a:rPr>
              <a:t>pegawainya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bagaimana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cara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merekrut</a:t>
            </a:r>
            <a:r>
              <a:rPr lang="en-ID" b="0" i="0" dirty="0">
                <a:effectLst/>
                <a:latin typeface="DM Sans"/>
              </a:rPr>
              <a:t> orang dan </a:t>
            </a:r>
            <a:r>
              <a:rPr lang="en-ID" b="0" i="0" dirty="0" err="1">
                <a:effectLst/>
                <a:latin typeface="DM Sans"/>
              </a:rPr>
              <a:t>meningkatkan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kinerja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pekerja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atau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pegawai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ID" b="0" i="0" dirty="0" err="1">
                <a:effectLst/>
                <a:latin typeface="DM Sans"/>
              </a:rPr>
              <a:t>Administrasi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bagian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ini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berperan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dalam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mengatur</a:t>
            </a:r>
            <a:r>
              <a:rPr lang="en-ID" b="0" i="0" dirty="0">
                <a:effectLst/>
                <a:latin typeface="DM Sans"/>
              </a:rPr>
              <a:t> data dan </a:t>
            </a:r>
            <a:r>
              <a:rPr lang="en-ID" b="0" i="0" dirty="0" err="1">
                <a:effectLst/>
                <a:latin typeface="DM Sans"/>
              </a:rPr>
              <a:t>alat</a:t>
            </a:r>
            <a:r>
              <a:rPr lang="en-ID" b="0" i="0" dirty="0">
                <a:effectLst/>
                <a:latin typeface="DM Sans"/>
              </a:rPr>
              <a:t> yang </a:t>
            </a:r>
            <a:r>
              <a:rPr lang="en-ID" b="0" i="0" dirty="0" err="1">
                <a:effectLst/>
                <a:latin typeface="DM Sans"/>
              </a:rPr>
              <a:t>ada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seperti</a:t>
            </a:r>
            <a:r>
              <a:rPr lang="en-ID" b="0" i="0" dirty="0">
                <a:effectLst/>
                <a:latin typeface="DM Sans"/>
              </a:rPr>
              <a:t> data </a:t>
            </a:r>
            <a:r>
              <a:rPr lang="en-ID" b="0" i="0" dirty="0" err="1">
                <a:effectLst/>
                <a:latin typeface="DM Sans"/>
              </a:rPr>
              <a:t>karyawan</a:t>
            </a:r>
            <a:r>
              <a:rPr lang="en-ID" b="0" i="0" dirty="0">
                <a:effectLst/>
                <a:latin typeface="DM Sans"/>
              </a:rPr>
              <a:t>, data </a:t>
            </a:r>
            <a:r>
              <a:rPr lang="en-ID" b="0" i="1" dirty="0">
                <a:effectLst/>
                <a:latin typeface="DM Sans"/>
              </a:rPr>
              <a:t>client</a:t>
            </a:r>
            <a:r>
              <a:rPr lang="en-ID" b="0" i="0" dirty="0">
                <a:effectLst/>
                <a:latin typeface="DM Sans"/>
              </a:rPr>
              <a:t>, data </a:t>
            </a:r>
            <a:r>
              <a:rPr lang="en-ID" b="0" i="0" dirty="0" err="1">
                <a:effectLst/>
                <a:latin typeface="DM Sans"/>
              </a:rPr>
              <a:t>alat</a:t>
            </a:r>
            <a:r>
              <a:rPr lang="en-ID" b="0" i="0" dirty="0">
                <a:effectLst/>
                <a:latin typeface="DM Sans"/>
              </a:rPr>
              <a:t>, dan lain-lain. </a:t>
            </a:r>
            <a:r>
              <a:rPr lang="en-ID" b="0" i="0" dirty="0" err="1">
                <a:effectLst/>
                <a:latin typeface="DM Sans"/>
              </a:rPr>
              <a:t>Kemudian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mencari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cara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dalam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mengorganisir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alat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tersebut</a:t>
            </a:r>
            <a:r>
              <a:rPr lang="en-ID" b="0" i="0" dirty="0">
                <a:effectLst/>
                <a:latin typeface="DM Sans"/>
              </a:rPr>
              <a:t> agar </a:t>
            </a:r>
            <a:r>
              <a:rPr lang="en-ID" b="0" i="0" dirty="0" err="1">
                <a:effectLst/>
                <a:latin typeface="DM Sans"/>
              </a:rPr>
              <a:t>bisa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karyawan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gunakan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dengan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baik</a:t>
            </a:r>
            <a:r>
              <a:rPr lang="en-ID" b="0" i="0" dirty="0">
                <a:effectLst/>
                <a:latin typeface="DM Sans"/>
              </a:rPr>
              <a:t>, </a:t>
            </a:r>
            <a:r>
              <a:rPr lang="en-ID" b="0" i="0" dirty="0" err="1">
                <a:effectLst/>
                <a:latin typeface="DM Sans"/>
              </a:rPr>
              <a:t>sesuai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dengan</a:t>
            </a:r>
            <a:r>
              <a:rPr lang="en-ID" b="0" i="0" dirty="0">
                <a:effectLst/>
                <a:latin typeface="DM Sans"/>
              </a:rPr>
              <a:t> </a:t>
            </a:r>
            <a:r>
              <a:rPr lang="en-ID" b="0" i="0" dirty="0" err="1">
                <a:effectLst/>
                <a:latin typeface="DM Sans"/>
              </a:rPr>
              <a:t>fungsi</a:t>
            </a:r>
            <a:r>
              <a:rPr lang="en-ID" b="0" i="0" dirty="0">
                <a:effectLst/>
                <a:latin typeface="DM Sans"/>
              </a:rPr>
              <a:t> dan </a:t>
            </a:r>
            <a:r>
              <a:rPr lang="en-ID" b="0" i="0" dirty="0" err="1">
                <a:effectLst/>
                <a:latin typeface="DM Sans"/>
              </a:rPr>
              <a:t>kebutuhannya</a:t>
            </a:r>
            <a:r>
              <a:rPr lang="en-ID" b="0" i="0" dirty="0">
                <a:effectLst/>
                <a:latin typeface="DM Sans"/>
              </a:rPr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69216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B8E3D-7D79-46CF-BEEE-372CDE42E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1322"/>
          </a:xfrm>
        </p:spPr>
        <p:txBody>
          <a:bodyPr/>
          <a:lstStyle/>
          <a:p>
            <a:r>
              <a:rPr lang="en-GB" dirty="0" err="1"/>
              <a:t>Macam</a:t>
            </a:r>
            <a:r>
              <a:rPr lang="en-GB" dirty="0"/>
              <a:t> </a:t>
            </a:r>
            <a:r>
              <a:rPr lang="en-GB" dirty="0" err="1"/>
              <a:t>Konsep</a:t>
            </a:r>
            <a:r>
              <a:rPr lang="en-GB" dirty="0"/>
              <a:t> </a:t>
            </a:r>
            <a:r>
              <a:rPr lang="en-GB" dirty="0" err="1"/>
              <a:t>Manajemen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61AE0-5248-42E2-AE38-454639BC0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918"/>
            <a:ext cx="10515600" cy="4886045"/>
          </a:xfrm>
        </p:spPr>
        <p:txBody>
          <a:bodyPr>
            <a:normAutofit fontScale="62500" lnSpcReduction="20000"/>
          </a:bodyPr>
          <a:lstStyle/>
          <a:p>
            <a:pPr marL="93663" indent="-93663"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1.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Produksi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26828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Pengertian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paling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tepat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mengenai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produksi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adalah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proses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pengadaan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barang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ataupun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jasa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Dalam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proses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perencanaannya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setiap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rencana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harus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memperhatikan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faktor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produksi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ada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marL="26828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Faktor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seperti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bahan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baku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mutu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bahan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tempat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produksi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hingga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produk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dihasilkan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menjadi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penentu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apakah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kegiatan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produksi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sudah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berhasil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belum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Melalui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faktor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inilah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seorang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mengevaluasi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bagaimana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kegiatan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produksi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sehingga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meningkatkan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kualitas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produksi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kedepannya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</a:t>
            </a:r>
          </a:p>
          <a:p>
            <a:pPr marL="93663" indent="-93663"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2.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Sumber</a:t>
            </a:r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Daya</a:t>
            </a:r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Manusia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26828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Macam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konsep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dasar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selanjutnya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yaitu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sumber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manusia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penting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karena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untuk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meningkatkan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mutu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perusahaan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maka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perusahaan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harus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memiliki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sumber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manusia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berkualitas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Dalam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menemukan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sumber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manusia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terbaik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inilah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tugas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bagian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 </a:t>
            </a:r>
          </a:p>
          <a:p>
            <a:pPr marL="93663" indent="-93663"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3.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Pemasaran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268288" indent="0" algn="l">
              <a:buNone/>
            </a:pP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Bagian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berkaitan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dengan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kegiatan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promosi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jadi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harus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mampu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mengevaluasi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dan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menganalisis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setiap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tindakan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dalam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kegiatan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pemasaran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Jika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belum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efektif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maka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dilakukan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pergantian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rencana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sampai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mendapatkan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hasil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maksimal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marL="93663" indent="-93663"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4.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Keuangan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26828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Pengertian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paling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tepat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mengenai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bidang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adalah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harus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bekerja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sama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dengan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pihak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lain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untuk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memaksimalkan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keuangan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Mulai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dari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proses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merencanakan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memeriksa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mengelola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menganggarkan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mencari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modal,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hingga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menyimpan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modal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perusahaan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2811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8B1C-FD3E-467B-B2AD-B07C9239B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0981"/>
          </a:xfrm>
        </p:spPr>
        <p:txBody>
          <a:bodyPr/>
          <a:lstStyle/>
          <a:p>
            <a:r>
              <a:rPr lang="en-GB" dirty="0" err="1"/>
              <a:t>Macam</a:t>
            </a:r>
            <a:r>
              <a:rPr lang="en-GB" dirty="0"/>
              <a:t> </a:t>
            </a:r>
            <a:r>
              <a:rPr lang="en-GB" dirty="0" err="1"/>
              <a:t>Konsep</a:t>
            </a:r>
            <a:r>
              <a:rPr lang="en-GB" dirty="0"/>
              <a:t> </a:t>
            </a:r>
            <a:r>
              <a:rPr lang="en-GB" dirty="0" err="1"/>
              <a:t>Manajemen</a:t>
            </a:r>
            <a:r>
              <a:rPr lang="en-GB" dirty="0"/>
              <a:t> (2)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7C8D9-A23E-4F27-8280-EC88367C2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812"/>
            <a:ext cx="10515600" cy="5069541"/>
          </a:xfrm>
        </p:spPr>
        <p:txBody>
          <a:bodyPr>
            <a:normAutofit fontScale="62500" lnSpcReduction="20000"/>
          </a:bodyPr>
          <a:lstStyle/>
          <a:p>
            <a:pPr marL="93663" indent="-93663"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5.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Informasi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26828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Macam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konsep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dasar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selanjutnya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yaitu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perencanaan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informasi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Informasi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tersebut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antara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lain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dokumen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teknologi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sumber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manusia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prosedur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akuntansi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biaya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produksi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dan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taktik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bisnis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marL="26828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Semua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data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tersebut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menjadi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rujukan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bagi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perusahaan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untuk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mengambil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kebijakan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bisnis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Jadi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seorang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harus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mampu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menggunakan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semua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data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tersebut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secara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maksimal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agar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tujuan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tercapai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 </a:t>
            </a:r>
          </a:p>
          <a:p>
            <a:pPr marL="93663" indent="-93663"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6. Strategi</a:t>
            </a:r>
          </a:p>
          <a:p>
            <a:pPr marL="26828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strategi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sangat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penting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dalam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suatu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bisnis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Strategi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tercipta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jika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ada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data yang valid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untuk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digunakan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sebagai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dasar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dalam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menentukan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keputusan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bisnis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marL="26828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Dalam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hal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,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seorang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harus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mampu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mengelola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sumber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manusia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ataupun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bahan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baku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ada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untuk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mencapai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target. </a:t>
            </a:r>
          </a:p>
          <a:p>
            <a:pPr marL="93663" indent="-93663"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7. </a:t>
            </a:r>
            <a:r>
              <a:rPr lang="en-ID" b="1" i="0" dirty="0" err="1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Operasi</a:t>
            </a:r>
            <a:endParaRPr lang="en-ID" b="1" i="0" dirty="0">
              <a:solidFill>
                <a:srgbClr val="003768"/>
              </a:solidFill>
              <a:effectLst/>
              <a:latin typeface="Poppins" panose="00000500000000000000" pitchFamily="2" charset="0"/>
            </a:endParaRPr>
          </a:p>
          <a:p>
            <a:pPr marL="26828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Manajemen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operasi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meliputi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kegiatan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pemeliharaan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dan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pengembangan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setiap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hasil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produksi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agar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mendatangkan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keuntungan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Jadi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semua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faktor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produksi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seperti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bahan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baku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dan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tenaga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kerja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dikelola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agar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bisa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menghasilkan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 </a:t>
            </a:r>
            <a:r>
              <a:rPr lang="en-ID" b="0" i="1" dirty="0">
                <a:solidFill>
                  <a:srgbClr val="003768"/>
                </a:solidFill>
                <a:effectLst/>
                <a:latin typeface="DM Sans"/>
              </a:rPr>
              <a:t>output 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yang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berkualitas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pPr marL="93663" indent="-93663" algn="l"/>
            <a:r>
              <a:rPr lang="en-ID" b="1" i="0" dirty="0">
                <a:solidFill>
                  <a:srgbClr val="003768"/>
                </a:solidFill>
                <a:effectLst/>
                <a:latin typeface="Poppins" panose="00000500000000000000" pitchFamily="2" charset="0"/>
              </a:rPr>
              <a:t>8. Pendidikan</a:t>
            </a:r>
          </a:p>
          <a:p>
            <a:pPr marL="268288" indent="0" algn="l">
              <a:buNone/>
            </a:pP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Pengertian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yang paling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tepat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mengenai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perencanaan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pendidikan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yaitu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lebih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berfokus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pada proses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peningkatan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mutu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sumber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daya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manusia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melalui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proses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pendidikan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 Hal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ini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berupa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pelatihan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untuk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meningkatkan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pengetahuan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dengan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harapan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kualitas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perusahaan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atau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organisasi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juga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akan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meningkat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 </a:t>
            </a:r>
            <a:r>
              <a:rPr lang="en-ID" b="0" i="0" dirty="0" err="1">
                <a:solidFill>
                  <a:srgbClr val="003768"/>
                </a:solidFill>
                <a:effectLst/>
                <a:latin typeface="DM Sans"/>
              </a:rPr>
              <a:t>kedepannya</a:t>
            </a:r>
            <a:r>
              <a:rPr lang="en-ID" b="0" i="0" dirty="0">
                <a:solidFill>
                  <a:srgbClr val="003768"/>
                </a:solidFill>
                <a:effectLst/>
                <a:latin typeface="DM Sans"/>
              </a:rPr>
              <a:t>. 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75300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2506-1EE6-491F-A35E-928816CD7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TERIMA KASIH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ECCB7-6144-45DF-819E-99C8EBD6A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333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1381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DM Sans</vt:lpstr>
      <vt:lpstr>Poppins</vt:lpstr>
      <vt:lpstr>Office Theme</vt:lpstr>
      <vt:lpstr>Konsep Manajemen</vt:lpstr>
      <vt:lpstr>Konsep Manajemen</vt:lpstr>
      <vt:lpstr>Konsep Manajemen (2)</vt:lpstr>
      <vt:lpstr>Karakteristik Manajemen</vt:lpstr>
      <vt:lpstr>Jenjang Manajemen</vt:lpstr>
      <vt:lpstr>Prinsip Manajemen</vt:lpstr>
      <vt:lpstr>Fungsi Manajemen</vt:lpstr>
      <vt:lpstr>Teori Manajemen</vt:lpstr>
      <vt:lpstr>Bidang Manajemen</vt:lpstr>
      <vt:lpstr>Macam Konsep Manajemen</vt:lpstr>
      <vt:lpstr>Macam Konsep Manajemen (2)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Manajemen</dc:title>
  <dc:creator>user</dc:creator>
  <cp:lastModifiedBy>user</cp:lastModifiedBy>
  <cp:revision>6</cp:revision>
  <dcterms:created xsi:type="dcterms:W3CDTF">2023-09-04T22:59:27Z</dcterms:created>
  <dcterms:modified xsi:type="dcterms:W3CDTF">2023-09-05T15:47:01Z</dcterms:modified>
</cp:coreProperties>
</file>